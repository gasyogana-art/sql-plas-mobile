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1BB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BC9B"/>
                </a:solidFill>
                <a:latin typeface="Segoe UI"/>
              </a:defRPr>
            </a:pPr>
            <a:r>
              <a:t>PANDUAN &amp; TUTORIAL INTERAKTIF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VPLAS Mobile:</a:t>
            </a:r>
            <a:br/>
            <a:r>
              <a:t>Belajar Verilog HDL di Smartphone</a:t>
            </a:r>
          </a:p>
          <a:p>
            <a:pPr>
              <a:defRPr sz="1600">
                <a:solidFill>
                  <a:srgbClr val="BDC3C7"/>
                </a:solidFill>
                <a:latin typeface="Segoe UI"/>
              </a:defRPr>
            </a:pPr>
            <a:r>
              <a:t>Praktik Langkah demi Langkah Menyelesaikan Problem 1 (Start) &amp; Problem 2 (Simple Wire)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5120640"/>
            <a:ext cx="6217920" cy="640080"/>
          </a:xfrm>
          <a:prstGeom prst="roundRect">
            <a:avLst/>
          </a:prstGeom>
          <a:solidFill>
            <a:srgbClr val="34495E"/>
          </a:solidFill>
          <a:ln w="19050">
            <a:solidFill>
              <a:srgbClr val="1BB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Adaptasi Mobile Resmi dari PLAS Verilog (Okayama University) • Mode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BC9B"/>
                </a:solidFill>
                <a:latin typeface="Segoe UI"/>
              </a:defRPr>
            </a:pPr>
            <a:r>
              <a:t>GAMBARAN UMUM METODE BELAJAR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Alur Pembelajaran Interaktif di VPLAS Mobile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92024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t>1. Buka &amp; Pilih Soal</a:t>
            </a:r>
          </a:p>
          <a:p>
            <a:br/>
            <a:pPr algn="ctr">
              <a:defRPr sz="1200">
                <a:solidFill>
                  <a:srgbClr val="212529"/>
                </a:solidFill>
              </a:defRPr>
            </a:pPr>
            <a:r>
              <a:t>Buka Problem List dan pilih topik materi (misal: Problem 1 Start).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011680"/>
            <a:ext cx="192024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500" b="1">
                <a:solidFill>
                  <a:srgbClr val="17A2B8"/>
                </a:solidFill>
              </a:defRPr>
            </a:pPr>
            <a:r>
              <a:t>2. Pahami Teori &amp; Kode</a:t>
            </a:r>
          </a:p>
          <a:p>
            <a:br/>
            <a:pPr algn="ctr">
              <a:defRPr sz="1200">
                <a:solidFill>
                  <a:srgbClr val="212529"/>
                </a:solidFill>
              </a:defRPr>
            </a:pPr>
            <a:r>
              <a:t>Pelajari diagram sirkuit dan struktur kode Verilog yang ditampilkan.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011680"/>
            <a:ext cx="192024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B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500" b="1">
                <a:solidFill>
                  <a:srgbClr val="1BBC9B"/>
                </a:solidFill>
              </a:defRPr>
            </a:pPr>
            <a:r>
              <a:t>3. Jawab Pilihan Ganda</a:t>
            </a:r>
          </a:p>
          <a:p>
            <a:br/>
            <a:pPr algn="ctr">
              <a:defRPr sz="1200">
                <a:solidFill>
                  <a:srgbClr val="212529"/>
                </a:solidFill>
              </a:defRPr>
            </a:pPr>
            <a:r>
              <a:t>Pilih jawaban secara praktis lewat ChoiceChips 1-tap tanpa keyboard.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59" y="2011680"/>
            <a:ext cx="192024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500" b="1">
                <a:solidFill>
                  <a:srgbClr val="F39C12"/>
                </a:solidFill>
              </a:defRPr>
            </a:pPr>
            <a:r>
              <a:t>4. Submit &amp; Evaluasi</a:t>
            </a:r>
          </a:p>
          <a:p>
            <a:br/>
            <a:pPr algn="ctr">
              <a:defRPr sz="1200">
                <a:solidFill>
                  <a:srgbClr val="212529"/>
                </a:solidFill>
              </a:defRPr>
            </a:pPr>
            <a:r>
              <a:t>Tekan tombol Answer untuk evaluasi otomatis instan (SHA-256).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011680"/>
            <a:ext cx="192024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500" b="1">
                <a:solidFill>
                  <a:srgbClr val="28A745"/>
                </a:solidFill>
              </a:defRPr>
            </a:pPr>
            <a:r>
              <a:t>5. Cek Nilai &amp; Lanjut</a:t>
            </a:r>
          </a:p>
          <a:p>
            <a:br/>
            <a:pPr algn="ctr">
              <a:defRPr sz="1200">
                <a:solidFill>
                  <a:srgbClr val="212529"/>
                </a:solidFill>
              </a:defRPr>
            </a:pPr>
            <a:r>
              <a:t>Lihat akurasi statistik dan tekan Next untuk lanjut ke Problem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BC9B"/>
                </a:solidFill>
                <a:latin typeface="Segoe UI"/>
              </a:defRPr>
            </a:pPr>
            <a:r>
              <a:t>NAVIGASI UTAMA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Langkah 1: Membuka Aplikasi &amp; Memilih Problem 1</a:t>
            </a:r>
          </a:p>
        </p:txBody>
      </p:sp>
      <p:pic>
        <p:nvPicPr>
          <p:cNvPr id="4" name="Picture 3" descr="media_1791247449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060771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0" y="1463040"/>
            <a:ext cx="7315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Fitur Halaman Utama (Problem List):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Header Offline VPLAS &amp; Tombol TOP: </a:t>
            </a:r>
            <a:r>
              <a:rPr b="0">
                <a:solidFill>
                  <a:srgbClr val="212529"/>
                </a:solidFill>
              </a:rPr>
              <a:t>Menandakan sistem bekerja 100% mandiri tanpa koneksi internet. Tombol TOP memudahkan kembali ke baris atas.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Kartu Progres (Progress Card): </a:t>
            </a:r>
            <a:r>
              <a:rPr b="0">
                <a:solidFill>
                  <a:srgbClr val="212529"/>
                </a:solidFill>
              </a:rPr>
              <a:t>Memantau capaian belajar secara langsung: jumlah soal yang Completed (selesai sempurna) dan Tried (sedang dicoba).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Daftar 22 Topik Bab 1 Verilog: </a:t>
            </a:r>
            <a:r>
              <a:rPr b="0">
                <a:solidFill>
                  <a:srgbClr val="212529"/>
                </a:solidFill>
              </a:rPr>
              <a:t>Tersusun berurutan dari pengenalan struktur (Start, Simple Wire) hingga gerbang logika dan rangkaian sekuensial.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Badge Status (Remark): </a:t>
            </a:r>
            <a:r>
              <a:rPr b="0">
                <a:solidFill>
                  <a:srgbClr val="212529"/>
                </a:solidFill>
              </a:rPr>
              <a:t>Setiap nomor memiliki penanda visual: 'Tried' (kuning) jika sudah pernah dijawab, dan 'Completed' (hijau) jika akurasi 100%.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Aksi Mahasiswa: </a:t>
            </a:r>
            <a:r>
              <a:rPr b="0">
                <a:solidFill>
                  <a:srgbClr val="212529"/>
                </a:solidFill>
              </a:rPr>
              <a:t>Ketuk baris nomor 1 'Start' untuk membuka modul pembelajaran pengenalan Verilog pertama.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BC9B"/>
                </a:solidFill>
                <a:latin typeface="Segoe UI"/>
              </a:defRPr>
            </a:pPr>
            <a:r>
              <a:t>PROBLEM 1: START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Langkah 2: Memahami Diagram Sirkuit &amp; Anatomi Verilog</a:t>
            </a:r>
          </a:p>
        </p:txBody>
      </p:sp>
      <p:pic>
        <p:nvPicPr>
          <p:cNvPr id="4" name="Picture 3" descr="media_1791247536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323838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0" y="1463040"/>
            <a:ext cx="73152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Konsep Dasar yang Dipelajari pada Problem 1: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Diagram Sirkuit (Circuit Diagram): </a:t>
            </a:r>
            <a:r>
              <a:rPr b="0">
                <a:solidFill>
                  <a:srgbClr val="212529"/>
                </a:solidFill>
              </a:rPr>
              <a:t>Menggambarkan alur sinyal sederhana dari masukan 'a' dialirkan langsung ke keluaran 'b' melalui kawat (wire).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Kata Kunci 'module' &amp; 'endmodule': </a:t>
            </a:r>
            <a:r>
              <a:rPr b="0">
                <a:solidFill>
                  <a:srgbClr val="212529"/>
                </a:solidFill>
              </a:rPr>
              <a:t>Setiap rangkaian logika dalam Verilog selalu diawali dengan kata kunci pembuka 'module' dan diakhiri dengan 'endmodule'.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Nama Modul ('start'): </a:t>
            </a:r>
            <a:r>
              <a:rPr b="0">
                <a:solidFill>
                  <a:srgbClr val="212529"/>
                </a:solidFill>
              </a:rPr>
              <a:t>Dideklarasikan tepat setelah kata kunci module: module start(...);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Deklarasi Port Input &amp; Output: </a:t>
            </a:r>
            <a:r>
              <a:rPr b="0">
                <a:solidFill>
                  <a:srgbClr val="212529"/>
                </a:solidFill>
              </a:rPr>
              <a:t>Port 'input a' adalah masukan sinyal dari luar, sedangkan 'output b' adalah keluaran sinyal hasil rangkaian.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Pernyataan Penugasan 'assign': </a:t>
            </a:r>
            <a:r>
              <a:rPr b="0">
                <a:solidFill>
                  <a:srgbClr val="212529"/>
                </a:solidFill>
              </a:rPr>
              <a:t>Digunakan untuk deskripsi penugasan logika kontinu (continuous assignment): assign b = a; (nilai 'a' terus mengalir ke 'b').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Editor Kode Bersintaks Terang: </a:t>
            </a:r>
            <a:r>
              <a:rPr b="0">
                <a:solidFill>
                  <a:srgbClr val="212529"/>
                </a:solidFill>
              </a:rPr>
              <a:t>Dilengkapi penyorotan sintaks (syntax highlighting) warna-warni agar kode mudah dibaca.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BC9B"/>
                </a:solidFill>
                <a:latin typeface="Segoe UI"/>
              </a:defRPr>
            </a:pPr>
            <a:r>
              <a:t>PENGISIAN JAWABAN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Langkah 3: Menjawab Soal Interaktif (ChoiceChips)</a:t>
            </a:r>
          </a:p>
        </p:txBody>
      </p:sp>
      <p:pic>
        <p:nvPicPr>
          <p:cNvPr id="4" name="Picture 3" descr="media_1791247548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566518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0" y="1463040"/>
            <a:ext cx="73152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Inovasi Pengisian Jawaban Mobile-Friendly: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Murni Pilihan Ganda (Tanpa Kotak Teks): </a:t>
            </a:r>
            <a:r>
              <a:rPr b="0">
                <a:solidFill>
                  <a:srgbClr val="212529"/>
                </a:solidFill>
              </a:rPr>
              <a:t>Mahasiswa tidak perlu repot mengetik huruf manual di keyboard HP yang rentan typo atau menutupi layar.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1-Tap ChoiceChips Responsif: </a:t>
            </a:r>
            <a:r>
              <a:rPr b="0">
                <a:solidFill>
                  <a:srgbClr val="212529"/>
                </a:solidFill>
              </a:rPr>
              <a:t>Cukup satu sentuhan pada opsi (A, B, C, atau D) untuk memilih jawaban secara langsung.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Indikator 'Blank [X]': </a:t>
            </a:r>
            <a:r>
              <a:rPr b="0">
                <a:solidFill>
                  <a:srgbClr val="212529"/>
                </a:solidFill>
              </a:rPr>
              <a:t>Setiap pertanyaan memetakan konsep isian nomor 1 sampai 6 pada struktur kode Verilog.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Pertanyaan 1 &amp; 2: </a:t>
            </a:r>
            <a:r>
              <a:rPr b="0">
                <a:solidFill>
                  <a:srgbClr val="212529"/>
                </a:solidFill>
              </a:rPr>
              <a:t>No 1 menguji identifikasi nama modul ('start'). No 2 menguji kata kunci pembuka modul ('module').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Pertanyaan 3 &amp; 4: </a:t>
            </a:r>
            <a:r>
              <a:rPr b="0">
                <a:solidFill>
                  <a:srgbClr val="212529"/>
                </a:solidFill>
              </a:rPr>
              <a:t>No 3 menguji kata kunci penutup modul ('endmodule'). No 4 menguji port masukan ('a').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Pertanyaan 5 &amp; 6: </a:t>
            </a:r>
            <a:r>
              <a:rPr b="0">
                <a:solidFill>
                  <a:srgbClr val="212529"/>
                </a:solidFill>
              </a:rPr>
              <a:t>No 5 menguji port keluaran ('b'). No 6 menguji kata kunci continuous assignment ('assign').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BC9B"/>
                </a:solidFill>
                <a:latin typeface="Segoe UI"/>
              </a:defRPr>
            </a:pPr>
            <a:r>
              <a:t>EVALUASI INSTAN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Langkah 4: Melakukan Submit &amp; Umpan Balik Visual</a:t>
            </a:r>
          </a:p>
        </p:txBody>
      </p:sp>
      <p:pic>
        <p:nvPicPr>
          <p:cNvPr id="4" name="Picture 3" descr="media_1791247582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698212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0" y="1463040"/>
            <a:ext cx="73152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Analisis Umpan Balik (Instant Feedback):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Tombol Submit '[ Answer ]': </a:t>
            </a:r>
            <a:r>
              <a:rPr b="0">
                <a:solidFill>
                  <a:srgbClr val="212529"/>
                </a:solidFill>
              </a:rPr>
              <a:t>Tekan tombol hijau Answer di bagian bawah layar untuk mengevaluasi seluruh jawaban secara otomatis.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Warna Hijau &amp; Ikon Centang (✓): </a:t>
            </a:r>
            <a:r>
              <a:rPr b="0">
                <a:solidFill>
                  <a:srgbClr val="212529"/>
                </a:solidFill>
              </a:rPr>
              <a:t>Menandakan jawaban BENAR! Pilihan chip dan penanda Selected berubah menjadi hijau toska (misal: No 1 'start', No 2 'module', No 3 'endmodule', No 4 'a').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Warna Merah &amp; Ikon Silang (✗): </a:t>
            </a:r>
            <a:r>
              <a:rPr b="0">
                <a:solidFill>
                  <a:srgbClr val="212529"/>
                </a:solidFill>
              </a:rPr>
              <a:t>Menandakan jawaban SALAH! Pilihan chip dan penanda Selected berubah menjadi merah (misal: No 5 memilih 'x', No 6 memilih 'output').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Pembelajaran Mandiri (Self-Correction): </a:t>
            </a:r>
            <a:r>
              <a:rPr b="0">
                <a:solidFill>
                  <a:srgbClr val="212529"/>
                </a:solidFill>
              </a:rPr>
              <a:t>Mahasiswa dapat langsung menyadari konsep mana yang belum dipahami dan dapat memperbaikinya kembali sebelum berpindah soal.</a:t>
            </a:r>
          </a:p>
          <a:p>
            <a:pPr>
              <a:defRPr b="1" sz="1250">
                <a:solidFill>
                  <a:srgbClr val="2C3E50"/>
                </a:solidFill>
              </a:defRPr>
            </a:pPr>
            <a:r>
              <a:t>• Enkripsi SHA-256 Asli PLAS: </a:t>
            </a:r>
            <a:r>
              <a:rPr b="0">
                <a:solidFill>
                  <a:srgbClr val="212529"/>
                </a:solidFill>
              </a:rPr>
              <a:t>Penilaian dilakukan secara offline menggunakan formula hash standar Universitas Okayama tanpa risiko kebocoran kunci jawaban.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BC9B"/>
                </a:solidFill>
                <a:latin typeface="Segoe UI"/>
              </a:defRPr>
            </a:pPr>
            <a:r>
              <a:t>HASIL &amp; PROGRES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Langkah 5: Memeriksa Statistik Akurasi &amp; Navigasi</a:t>
            </a:r>
          </a:p>
        </p:txBody>
      </p:sp>
      <p:pic>
        <p:nvPicPr>
          <p:cNvPr id="4" name="Picture 3" descr="media_1791247592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206240" cy="227774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463040"/>
            <a:ext cx="61264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Kartu Statistik &amp; Kontrol Pembelajaran: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Total number of questions: 6 </a:t>
            </a:r>
            <a:r>
              <a:rPr b="0">
                <a:solidFill>
                  <a:srgbClr val="212529"/>
                </a:solidFill>
              </a:rPr>
              <a:t>Jumlah total butir isian pertanyaan yang harus diselesaikan pada problem ini.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Number of correct answers: 4 </a:t>
            </a:r>
            <a:r>
              <a:rPr b="0">
                <a:solidFill>
                  <a:srgbClr val="212529"/>
                </a:solidFill>
              </a:rPr>
              <a:t>Jumlah jawaban yang berhasil benar pada percobaan saat ini (4 dari 6).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Accuracy rate: 66.67% </a:t>
            </a:r>
            <a:r>
              <a:rPr b="0">
                <a:solidFill>
                  <a:srgbClr val="212529"/>
                </a:solidFill>
              </a:rPr>
              <a:t>Persentase akurasi pengerjaan. Warna teks mengikuti standar PLAS (&lt;60% merah, 60-99% netral, 100% hijau).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Tombol Refresh (Pojok Kanan Atas): </a:t>
            </a:r>
            <a:r>
              <a:rPr b="0">
                <a:solidFill>
                  <a:srgbClr val="212529"/>
                </a:solidFill>
              </a:rPr>
              <a:t>Ikon panah melingkar di samping tombol TOP untuk mengosongkan kembali seluruh pilihan jawaban jika ingin mencoba ulang dari awal.</a:t>
            </a:r>
          </a:p>
          <a:p>
            <a:pPr>
              <a:defRPr b="1" sz="1300">
                <a:solidFill>
                  <a:srgbClr val="2C3E50"/>
                </a:solidFill>
              </a:defRPr>
            </a:pPr>
            <a:r>
              <a:t>• Tombol Navigasi '[ Next &gt; ]': </a:t>
            </a:r>
            <a:r>
              <a:rPr b="0">
                <a:solidFill>
                  <a:srgbClr val="212529"/>
                </a:solidFill>
              </a:rPr>
              <a:t>Tekan tombol biru gelap Next di pojok kanan bawah untuk langsung melangkah maju ke Problem 2 (Simple Wire).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BC9B"/>
                </a:solidFill>
                <a:latin typeface="Segoe UI"/>
              </a:defRPr>
            </a:pPr>
            <a:r>
              <a:t>TRANSISI MATERI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Langkah 6: Melanjutkan ke Problem 2: Simple Wire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B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1BBC9B"/>
                </a:solidFill>
              </a:defRPr>
            </a:pPr>
            <a:r>
              <a:t>Problem 1: Start (Fondasi Konsep)</a:t>
            </a:r>
          </a:p>
          <a:p>
            <a:br/>
            <a:pPr>
              <a:defRPr sz="1300">
                <a:solidFill>
                  <a:srgbClr val="212529"/>
                </a:solidFill>
              </a:defRPr>
            </a:pPr>
            <a:r>
              <a:t>• Tujuan Pembelajaran:</a:t>
            </a:r>
            <a:br/>
            <a:r>
              <a:t>  Mengenalkan mahasiswa pada anatomi dasar kode Verilog.</a:t>
            </a:r>
            <a:br/>
            <a:br/>
            <a:r>
              <a:t>• Metode Soal:</a:t>
            </a:r>
            <a:br/>
            <a:r>
              <a:t>  Pertanyaan konseptual mengidentifikasi nama modul, kata kunci pembuka/penutup, dan deklarasi port.</a:t>
            </a:r>
            <a:br/>
            <a:br/>
            <a:r>
              <a:t>• Bentuk Interaksi:</a:t>
            </a:r>
            <a:br/>
            <a:r>
              <a:t>  Daftar pertanyaan pilihan ganda (Multiple Choice Questions) di bawah kode.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2C3E50"/>
                </a:solidFill>
              </a:defRPr>
            </a:pPr>
            <a:r>
              <a:t>Problem 2: Simple Wire (Praktik Menulis Kode)</a:t>
            </a:r>
          </a:p>
          <a:p>
            <a:br/>
            <a:pPr>
              <a:defRPr sz="1300">
                <a:solidFill>
                  <a:srgbClr val="212529"/>
                </a:solidFill>
              </a:defRPr>
            </a:pPr>
            <a:r>
              <a:t>• Penerapan Langsung:</a:t>
            </a:r>
            <a:br/>
            <a:r>
              <a:t>  Mahasiswa langsung mengisi bagian kode yang rumpang (code blanks) seperti port keluaran dan kata kunci assign.</a:t>
            </a:r>
            <a:br/>
            <a:br/>
            <a:r>
              <a:t>• Selektor Dropdown Adaptif:</a:t>
            </a:r>
            <a:br/>
            <a:r>
              <a:t>  Terdapat tombol dropdown otomatis di dalam kode: [ reg ▼ ], [ assign ▼ ] dengan teks utuh.</a:t>
            </a:r>
            <a:br/>
            <a:br/>
            <a:r>
              <a:t>• Kartu 'Multiple Choice: Code Blanks':</a:t>
            </a:r>
            <a:br/>
            <a:r>
              <a:t>  Tersedia pilihan ganda praktis di bawah kode untuk memilih isian kode dengan 1 ketukan.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18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Rangkuman 5 Langkah Belajar Efektif di VPLAS Mobile</a:t>
            </a:r>
          </a:p>
          <a:p>
            <a:br/>
            <a:pPr>
              <a:defRPr sz="1400">
                <a:solidFill>
                  <a:srgbClr val="212529"/>
                </a:solidFill>
                <a:latin typeface="Segoe UI"/>
              </a:defRPr>
            </a:pPr>
            <a:r>
              <a:t>✔ 1. Amati Diagram &amp; Kode: Luangkan waktu sejenak memahami arah sinyal dan nama port sebelum menjawab.</a:t>
            </a:r>
          </a:p>
          <a:p>
            <a:br/>
            <a:pPr>
              <a:defRPr sz="1400">
                <a:solidFill>
                  <a:srgbClr val="212529"/>
                </a:solidFill>
                <a:latin typeface="Segoe UI"/>
              </a:defRPr>
            </a:pPr>
            <a:r>
              <a:t>✔ 2. Manfaatkan ChoiceChips: Ketuk pilihan ganda interaktif tanpa perlu repot mengetik di keyboard HP.</a:t>
            </a:r>
          </a:p>
          <a:p>
            <a:br/>
            <a:pPr>
              <a:defRPr sz="1400">
                <a:solidFill>
                  <a:srgbClr val="212529"/>
                </a:solidFill>
                <a:latin typeface="Segoe UI"/>
              </a:defRPr>
            </a:pPr>
            <a:r>
              <a:t>✔ 3. Periksa Umpan Balik: Warna hijau (✓) dan merah (✗) langsung menunjukkan tingkat pemahaman Anda.</a:t>
            </a:r>
          </a:p>
          <a:p>
            <a:br/>
            <a:pPr>
              <a:defRPr sz="1400">
                <a:solidFill>
                  <a:srgbClr val="212529"/>
                </a:solidFill>
                <a:latin typeface="Segoe UI"/>
              </a:defRPr>
            </a:pPr>
            <a:r>
              <a:t>✔ 4. Coba Lagi Kapan Saja: Tombol refresh memungkinkan Anda mengulang hingga mencapai akurasi 100%.</a:t>
            </a:r>
          </a:p>
          <a:p>
            <a:br/>
            <a:pPr>
              <a:defRPr sz="1400">
                <a:solidFill>
                  <a:srgbClr val="212529"/>
                </a:solidFill>
                <a:latin typeface="Segoe UI"/>
              </a:defRPr>
            </a:pPr>
            <a:r>
              <a:t>✔ 5. Lanjut Bertahap: Gunakan tombol Next untuk melanjutkan dari Problem 1 (Start) ke Problem 2 (Simple Wire).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